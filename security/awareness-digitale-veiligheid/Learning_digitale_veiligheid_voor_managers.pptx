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B2A4A"/>
                </a:solidFill>
                <a:latin typeface="Segoe UI"/>
              </a:defRPr>
            </a:pPr>
            <a:r>
              <a:t>Learning digitale veiligheid — voor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E5C8A"/>
                </a:solidFill>
                <a:latin typeface="Segoe UI"/>
              </a:defRPr>
            </a:pPr>
            <a:r>
              <a:t>Hacks en datalekken — ben jij je bewust?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3154680"/>
            <a:ext cx="5943600" cy="31750"/>
          </a:xfrm>
          <a:prstGeom prst="rect">
            <a:avLst/>
          </a:prstGeom>
          <a:solidFill>
            <a:srgbClr val="B58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E6E6E"/>
                </a:solidFill>
                <a:latin typeface="Segoe UI"/>
              </a:defRPr>
            </a:pPr>
            <a:r>
              <a:t>Het Odido-datalek — én wat er sindsdien gebeurde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Segoe UI"/>
              </a:defRPr>
            </a:pPr>
            <a:r>
              <a:t>[Naam spreker] — CISO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Segoe UI"/>
              </a:defRPr>
            </a:pPr>
            <a:r>
              <a:t>[Co-presentator]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Segoe UI"/>
              </a:defRPr>
            </a:pPr>
            <a:r>
              <a:t>Public | TLP: Clear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  <a:latin typeface="Segoe UI"/>
              </a:defRPr>
            </a:pPr>
            <a:r>
              <a:t>Programma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280160"/>
          <a:ext cx="100584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448887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Tijd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Onderdeel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Duur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Welkom &amp; icebreaker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2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0:02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Wat is er gebeurd? (Odido + Epe + het patroon)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9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0:11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Aanvallers hebben keuze (familie aanvalsvormen)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2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0:13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Twee aanvalstechnieken die alles omzeilen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3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0:16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Demo: zo gaat een aanval écht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0:26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Ben jij gelekt? (live check)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4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3 stappen die je vandaag zet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4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0:34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En op het werk? (meldroute)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4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0:38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Onthoud — 3 dingen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2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9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0:40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Vragen &amp; afsluiting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10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Segoe UI"/>
              </a:defRPr>
            </a:pPr>
            <a:r>
              <a:t>Public | TLP: Clear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  <a:latin typeface="Segoe UI"/>
              </a:defRPr>
            </a:pPr>
            <a:r>
              <a:t>Vraag aan de zaal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Segoe UI"/>
              </a:defRPr>
            </a:pPr>
            <a:r>
              <a:t>“Wie heeft of had een abonnement bij</a:t>
            </a:r>
            <a:br/>
            <a:r>
              <a:t>Odido, T-Mobile, Tele2 of Ben?”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840480"/>
            <a:ext cx="10332720" cy="1463040"/>
          </a:xfrm>
          <a:prstGeom prst="rect">
            <a:avLst/>
          </a:prstGeom>
          <a:solidFill>
            <a:srgbClr val="FBEDDD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3840480"/>
            <a:ext cx="109728" cy="146304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16052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Segoe UI"/>
              </a:defRPr>
            </a:pPr>
            <a:r>
              <a:t>“Dan is de kans groot dat jouw gegevens op straat liggen.”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Segoe UI"/>
              </a:defRPr>
            </a:pPr>
            <a:r>
              <a:t>Public | TLP: Clear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Segoe UI"/>
              </a:defRPr>
            </a:pPr>
            <a:r>
              <a:t>Odido: het begin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Segoe UI"/>
              </a:defRPr>
            </a:pPr>
            <a:r>
              <a:t>Een telefoontje. Een derde van Nederland op straat.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54480"/>
            <a:ext cx="109728" cy="603504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591056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Iemand belde de helpdesk. Zei: “ik ben van IT.” De medewerker logde in op een nepje.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304288"/>
            <a:ext cx="109728" cy="603504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40864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Met die inlog kon hij de hele klantendatabase exporteren. Niemand zag het terwijl het gebeurde.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054096"/>
            <a:ext cx="109728" cy="603504"/>
          </a:xfrm>
          <a:prstGeom prst="rect">
            <a:avLst/>
          </a:prstGeom>
          <a:solidFill>
            <a:srgbClr val="8B1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0906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Vier weken later stond alles op het darkweb: namen, adressen, IBAN, paspoortnummers, klantnotities over stalking en huiselijk geweld.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Segoe UI"/>
              </a:defRPr>
            </a:pPr>
            <a:r>
              <a:t>Drie dingen ontbraken — en bij vrijwel elke grote hack van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572000"/>
            <a:ext cx="822960" cy="82296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645152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6177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Segoe UI"/>
              </a:defRPr>
            </a:pPr>
            <a:r>
              <a:t>Niemand belde terug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4572000"/>
            <a:ext cx="822960" cy="8229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4645152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46177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Segoe UI"/>
              </a:defRPr>
            </a:pPr>
            <a:r>
              <a:t>Één medewerker had toegang tot alles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4572000"/>
            <a:ext cx="822960" cy="822960"/>
          </a:xfrm>
          <a:prstGeom prst="rect">
            <a:avLst/>
          </a:prstGeom>
          <a:solidFill>
            <a:srgbClr val="8B1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4645152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46177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Segoe UI"/>
              </a:defRPr>
            </a:pPr>
            <a:r>
              <a:t>Niemand zag de uitstroom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6C00"/>
                </a:solidFill>
                <a:latin typeface="Segoe UI"/>
              </a:defRPr>
            </a:pPr>
            <a:r>
              <a:t>Geen exotische hack. Een telefoontje en drie weken stilte.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Segoe UI"/>
              </a:defRPr>
            </a:pPr>
            <a:r>
              <a:t>Public | TLP: Clear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Segoe UI"/>
              </a:defRPr>
            </a:pPr>
            <a:r>
              <a:t>Epe: dichtbij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Segoe UI"/>
              </a:defRPr>
            </a:pPr>
            <a:r>
              <a:t>Een gemeente. Vrijwel alle inwoners. Alles op straat.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2606040" cy="91440"/>
          </a:xfrm>
          <a:prstGeom prst="rect">
            <a:avLst/>
          </a:prstGeom>
          <a:solidFill>
            <a:srgbClr val="8B1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2606040" cy="2103120"/>
          </a:xfrm>
          <a:prstGeom prst="rect">
            <a:avLst/>
          </a:prstGeom>
          <a:solidFill>
            <a:srgbClr val="F6E2E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2331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Een nep-foutmelding:</a:t>
            </a:r>
            <a:br/>
            <a:r>
              <a:t>“klik hier ter</a:t>
            </a:r>
            <a:br/>
            <a:r>
              <a:t>verificatie”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554480"/>
            <a:ext cx="2606040" cy="914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1645920"/>
            <a:ext cx="2606040" cy="2103120"/>
          </a:xfrm>
          <a:prstGeom prst="rect">
            <a:avLst/>
          </a:prstGeom>
          <a:solidFill>
            <a:srgbClr val="F8E4E1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783080"/>
            <a:ext cx="2331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Code geplakt in Win+R</a:t>
            </a:r>
            <a:br/>
            <a:r>
              <a:t>→ PowerShell draait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2606040" cy="9144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45920"/>
            <a:ext cx="2606040" cy="2103120"/>
          </a:xfrm>
          <a:prstGeom prst="rect">
            <a:avLst/>
          </a:prstGeom>
          <a:solidFill>
            <a:srgbClr val="FBEDDD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783080"/>
            <a:ext cx="2331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Twee dagen later:</a:t>
            </a:r>
            <a:br/>
            <a:r>
              <a:t>legacy fileserver leeg</a:t>
            </a:r>
            <a:br/>
            <a:r>
              <a:t>(“tijdelijk stortvak”)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6839" y="1554480"/>
            <a:ext cx="2606040" cy="91440"/>
          </a:xfrm>
          <a:prstGeom prst="rect">
            <a:avLst/>
          </a:prstGeom>
          <a:solidFill>
            <a:srgbClr val="8B1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06839" y="1645920"/>
            <a:ext cx="2606040" cy="2103120"/>
          </a:xfrm>
          <a:prstGeom prst="rect">
            <a:avLst/>
          </a:prstGeom>
          <a:solidFill>
            <a:srgbClr val="F6E2E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3999" y="1783080"/>
            <a:ext cx="2331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Op straat:</a:t>
            </a:r>
            <a:br/>
            <a:r>
              <a:t>NAW + BSN van vrijwel</a:t>
            </a:r>
            <a:br/>
            <a:r>
              <a:t>alle inwoners.</a:t>
            </a:r>
            <a:br/>
            <a:r>
              <a:t>Bij 1.000 mensen ook</a:t>
            </a:r>
            <a:br/>
            <a:r>
              <a:t>hun ID-kopie.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23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Segoe UI"/>
              </a:defRPr>
            </a:pPr>
            <a:r>
              <a:t>Wat dit dichtbij maakt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34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Epe is een gemeente net als wij. Zelfde wetten, zelfde leveranciers, zelfde druk om door te werken.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120640"/>
            <a:ext cx="10972800" cy="1188720"/>
          </a:xfrm>
          <a:prstGeom prst="rect">
            <a:avLst/>
          </a:prstGeom>
          <a:solidFill>
            <a:srgbClr val="FBEDDD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120640"/>
            <a:ext cx="109728" cy="118872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230368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B2A4A"/>
                </a:solidFill>
                <a:latin typeface="Segoe UI"/>
              </a:defRPr>
            </a:pPr>
            <a:r>
              <a:t>“Hebben wij ook tijdelijke stortvakken?</a:t>
            </a:r>
            <a:br/>
            <a:r>
              <a:t>Zou onze helpdesk een nep-CAPTCHA herkennen?</a:t>
            </a:r>
            <a:br/>
            <a:r>
              <a:t>Hoe snel weten wij wát er weg is?”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Segoe UI"/>
              </a:defRPr>
            </a:pPr>
            <a:r>
              <a:t>Public | TLP: Clear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Segoe UI"/>
              </a:defRPr>
            </a:pPr>
            <a:r>
              <a:t>Het is geen incident, het is een patroon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90D9"/>
                </a:solidFill>
                <a:latin typeface="Segoe UI"/>
              </a:defRPr>
            </a:pPr>
            <a:r>
              <a:t>In drie maanden tijd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00200"/>
            <a:ext cx="109728" cy="54864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554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5C8A"/>
                </a:solidFill>
                <a:latin typeface="Segoe UI"/>
              </a:defRPr>
            </a:pPr>
            <a:r>
              <a:t>Februari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572768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Odido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267712"/>
            <a:ext cx="10332720" cy="127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423160"/>
            <a:ext cx="109728" cy="54864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3774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Segoe UI"/>
              </a:defRPr>
            </a:pPr>
            <a:r>
              <a:t>Maart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395728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Gemeente Epe   ·   Ministerie van Financiën   ·   Europese Commissie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090672"/>
            <a:ext cx="10332720" cy="127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246120"/>
            <a:ext cx="109728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2004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218688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ChipSoft   ·   Booking.com   ·   Basic-Fit   ·   Rituals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913632"/>
            <a:ext cx="10332720" cy="127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4069080"/>
            <a:ext cx="109728" cy="548640"/>
          </a:xfrm>
          <a:prstGeom prst="rect">
            <a:avLst/>
          </a:prstGeom>
          <a:solidFill>
            <a:srgbClr val="8B1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023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1A4A"/>
                </a:solidFill>
                <a:latin typeface="Segoe UI"/>
              </a:defRPr>
            </a:pPr>
            <a:r>
              <a:t>Mei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041648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Canvas (onderwijs)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074920"/>
            <a:ext cx="10332720" cy="1234440"/>
          </a:xfrm>
          <a:prstGeom prst="rect">
            <a:avLst/>
          </a:prstGeom>
          <a:solidFill>
            <a:srgbClr val="FAF1D6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5074920"/>
            <a:ext cx="109728" cy="1234440"/>
          </a:xfrm>
          <a:prstGeom prst="rect">
            <a:avLst/>
          </a:prstGeom>
          <a:solidFill>
            <a:srgbClr val="B58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5193792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2A4A"/>
                </a:solidFill>
                <a:latin typeface="Segoe UI"/>
              </a:defRPr>
            </a:pPr>
            <a:r>
              <a:t>Vijf grote lekken in drie maanden. Dezelfde drie kernfouten.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66928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2A4A"/>
                </a:solidFill>
                <a:latin typeface="Segoe UI"/>
              </a:defRPr>
            </a:pPr>
            <a:r>
              <a:t>En in onze map staan er nog 25 meer.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Segoe UI"/>
              </a:defRPr>
            </a:pPr>
            <a:r>
              <a:t>Public | TLP: Clear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Segoe UI"/>
              </a:defRPr>
            </a:pPr>
            <a:r>
              <a:t>Aanvallers hebben keuze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90D9"/>
                </a:solidFill>
                <a:latin typeface="Segoe UI"/>
              </a:defRPr>
            </a:pPr>
            <a:r>
              <a:t>Een familie aanvalsvormen — allemaal in 2026 gebruikt. Twee bekijken we zo.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9728" cy="45720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5C8A"/>
                </a:solidFill>
                <a:latin typeface="Segoe UI"/>
              </a:defRPr>
            </a:pPr>
            <a:r>
              <a:t>Verleiden (phishing-familie)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1527048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egoe UI"/>
              </a:defRPr>
            </a:pPr>
            <a:r>
              <a:t>E-mail · Vishing (telefoon) · Smishing (SMS) · Quishing (QR) · Spearphishing · BEC / CEO-fraude · Helpdesk-impersonatie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75688"/>
            <a:ext cx="11018520" cy="127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212848"/>
            <a:ext cx="109728" cy="45720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6C00"/>
                </a:solidFill>
                <a:latin typeface="Segoe UI"/>
              </a:defRPr>
            </a:pPr>
            <a:r>
              <a:t>Identiteit overnemen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185416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egoe UI"/>
              </a:defRPr>
            </a:pPr>
            <a:r>
              <a:t>★ Device code phishing · OAuth-token-diefstal · MFA fatigue · Adversary-in-the-middle · Credential stuffing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734056"/>
            <a:ext cx="11018520" cy="127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871216"/>
            <a:ext cx="109728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825496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  <a:latin typeface="Segoe UI"/>
              </a:defRPr>
            </a:pPr>
            <a:r>
              <a:t>Jij voert het zelf uit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843784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egoe UI"/>
              </a:defRPr>
            </a:pPr>
            <a:r>
              <a:t>★ ClickFix (Win+R) · Malafide browser-extensie · Macro-malware · Fake software-update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392424"/>
            <a:ext cx="11018520" cy="127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529584"/>
            <a:ext cx="109728" cy="457200"/>
          </a:xfrm>
          <a:prstGeom prst="rect">
            <a:avLst/>
          </a:prstGeom>
          <a:solidFill>
            <a:srgbClr val="8B1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483864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1A4A"/>
                </a:solidFill>
                <a:latin typeface="Segoe UI"/>
              </a:defRPr>
            </a:pPr>
            <a:r>
              <a:t>Via een ander binnenkomen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3502152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egoe UI"/>
              </a:defRPr>
            </a:pPr>
            <a:r>
              <a:t>Gehackte leverancier · Watering hole · Drive-by download · Malvertising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050792"/>
            <a:ext cx="11018520" cy="127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187951"/>
            <a:ext cx="109728" cy="45720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42231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A1B9A"/>
                </a:solidFill>
                <a:latin typeface="Segoe UI"/>
              </a:defRPr>
            </a:pPr>
            <a:r>
              <a:t>Fysiek &amp; hybrid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4160519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egoe UI"/>
              </a:defRPr>
            </a:pPr>
            <a:r>
              <a:t>USB-drop · Tailgating · Wifi-spoof / evil twin · Deepfake-telefoontje · Insider geronseld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440680"/>
            <a:ext cx="10972800" cy="868680"/>
          </a:xfrm>
          <a:prstGeom prst="rect">
            <a:avLst/>
          </a:prstGeom>
          <a:solidFill>
            <a:srgbClr val="FAF1D6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5440680"/>
            <a:ext cx="109728" cy="868680"/>
          </a:xfrm>
          <a:prstGeom prst="rect">
            <a:avLst/>
          </a:prstGeom>
          <a:solidFill>
            <a:srgbClr val="B58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5138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Segoe UI"/>
              </a:defRPr>
            </a:pPr>
            <a:r>
              <a:t>★ Twee daarvan bekijken we zo in detail. De rest? Ook bestaand. Soms te koop voor een paar euro.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8795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Segoe UI"/>
              </a:defRPr>
            </a:pPr>
            <a:r>
              <a:t>Een aanvaller hoeft maar één route te vinden. Wij moeten ze allemaal kennen.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Segoe UI"/>
              </a:defRPr>
            </a:pPr>
            <a:r>
              <a:t>Public | TLP: Clear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Segoe UI"/>
              </a:defRPr>
            </a:pPr>
            <a:r>
              <a:t>Twee technieken die alles omzeilen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90D9"/>
                </a:solidFill>
                <a:latin typeface="Segoe UI"/>
              </a:defRPr>
            </a:pPr>
            <a:r>
              <a:t>Géén bijlage. Géén verdachte URL. Géén virusscanner die piept.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486400" cy="3200400"/>
          </a:xfrm>
          <a:prstGeom prst="rect">
            <a:avLst/>
          </a:prstGeom>
          <a:solidFill>
            <a:srgbClr val="E9F0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09728" cy="320040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Segoe UI"/>
              </a:defRPr>
            </a:pPr>
            <a:r>
              <a:t>Device code phishing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5C8A"/>
                </a:solidFill>
                <a:latin typeface="Segoe UI"/>
              </a:defRPr>
            </a:pPr>
            <a:r>
              <a:t>Waar ze om vragen: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6032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“Voer deze code in op</a:t>
            </a:r>
            <a:br/>
            <a:r>
              <a:t>microsoft.com/devicelogin”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29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5C8A"/>
                </a:solidFill>
                <a:latin typeface="Segoe UI"/>
              </a:defRPr>
            </a:pPr>
            <a:r>
              <a:t>Wat jij ziet: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49039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De échte Microsoft-loginpagina.</a:t>
            </a:r>
            <a:br/>
            <a:r>
              <a:t>MFA werkt gewoon.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554480"/>
            <a:ext cx="5349240" cy="3200400"/>
          </a:xfrm>
          <a:prstGeom prst="rect">
            <a:avLst/>
          </a:prstGeom>
          <a:solidFill>
            <a:srgbClr val="F6E2E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554480"/>
            <a:ext cx="109728" cy="3200400"/>
          </a:xfrm>
          <a:prstGeom prst="rect">
            <a:avLst/>
          </a:prstGeom>
          <a:solidFill>
            <a:srgbClr val="8B1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691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B1A4A"/>
                </a:solidFill>
                <a:latin typeface="Segoe UI"/>
              </a:defRPr>
            </a:pPr>
            <a:r>
              <a:t>ClickFix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40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Segoe UI"/>
              </a:defRPr>
            </a:pPr>
            <a:r>
              <a:t>Waar ze om vragen: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5603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“Kopieer ter verificatie</a:t>
            </a:r>
            <a:br/>
            <a:r>
              <a:t>en plak in Win+R”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429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Segoe UI"/>
              </a:defRPr>
            </a:pPr>
            <a:r>
              <a:t>Wat jij ziet: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749039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Een nep-CAPTCHA of</a:t>
            </a:r>
            <a:br/>
            <a:r>
              <a:t>nep-foutmelding.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029200"/>
            <a:ext cx="10972800" cy="1280160"/>
          </a:xfrm>
          <a:prstGeom prst="rect">
            <a:avLst/>
          </a:prstGeom>
          <a:solidFill>
            <a:srgbClr val="FBEDDD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029200"/>
            <a:ext cx="109728" cy="128016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120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Segoe UI"/>
              </a:defRPr>
            </a:pPr>
            <a:r>
              <a:t>Vuistregel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4068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Segoe UI"/>
              </a:defRPr>
            </a:pPr>
            <a:r>
              <a:t>Vraagt iemand jou een code in te typen op een Microsoft-pagina die jij niet zelf opende?</a:t>
            </a:r>
            <a:br/>
            <a:r>
              <a:t>Of een tekst te plakken in Win+R?  →  Doe het niet, en bel terug via een vertrouwd nummer.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Segoe UI"/>
              </a:defRPr>
            </a:pPr>
            <a:r>
              <a:t>Public | TLP: Clear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Demo: zo gaat een aanval écht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554480"/>
            <a:ext cx="9418320" cy="2286000"/>
          </a:xfrm>
          <a:prstGeom prst="rect">
            <a:avLst/>
          </a:prstGeom>
          <a:solidFill>
            <a:srgbClr val="15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9164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17"/>
                </a:solidFill>
                <a:latin typeface="Segoe UI"/>
              </a:defRPr>
            </a:pPr>
            <a:r>
              <a:t>Reconstructie op basis van publieke threat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Segoe UI"/>
              </a:defRPr>
            </a:pPr>
            <a:r>
              <a:t>(MIVD jaarbericht 2026 · Microsoft MSTIC · NCSC-NL)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74320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Actor: Laundry Bear  ·  Campagne: ClickFix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24612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Alle schermen, accounts en data zijn fictief. Geen werkende exploits.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Wat je nu gaat zien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6634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EEEEEE"/>
                </a:solidFill>
                <a:latin typeface="Segoe UI"/>
              </a:defRPr>
            </a:pPr>
            <a:r>
              <a:t>1.  Browser extension — “PDF Quick-Save”. Één klik. Tokens weg.</a:t>
            </a:r>
          </a:p>
          <a:p>
            <a:pPr>
              <a:spcAft>
                <a:spcPts val="800"/>
              </a:spcAft>
              <a:defRPr sz="1400" b="0">
                <a:solidFill>
                  <a:srgbClr val="EEEEEE"/>
                </a:solidFill>
                <a:latin typeface="Segoe UI"/>
              </a:defRPr>
            </a:pPr>
            <a:r>
              <a:t>2.  Teams phishing → ClickFix — drie stappen, PowerShell draait.</a:t>
            </a:r>
          </a:p>
          <a:p>
            <a:pPr>
              <a:spcAft>
                <a:spcPts val="800"/>
              </a:spcAft>
              <a:defRPr sz="1400" b="0">
                <a:solidFill>
                  <a:srgbClr val="EEEEEE"/>
                </a:solidFill>
                <a:latin typeface="Segoe UI"/>
              </a:defRPr>
            </a:pPr>
            <a:r>
              <a:t>3.  Wat gebeurt er ná die Enter — recon, cookies, exfil naar cloud.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77777"/>
                </a:solidFill>
                <a:latin typeface="Segoe UI"/>
              </a:defRPr>
            </a:pPr>
            <a:r>
              <a:t>Public | TLP: Clear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Demo (10 min) — drie scènes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280160"/>
            <a:ext cx="9418320" cy="4389120"/>
          </a:xfrm>
          <a:prstGeom prst="rect">
            <a:avLst/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888888"/>
                </a:solidFill>
                <a:latin typeface="Segoe UI"/>
              </a:defRPr>
            </a:pPr>
            <a:r>
              <a:t>▶  Demo-video hier invoegen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  <a:latin typeface="Segoe UI"/>
              </a:defRPr>
            </a:pPr>
            <a:r>
              <a:t>Browser extension  ·  Teams phishing  ·  PowerShell-keten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77777"/>
                </a:solidFill>
                <a:latin typeface="Segoe UI"/>
              </a:defRPr>
            </a:pPr>
            <a:r>
              <a:t>[Spreker] geeft live commentaar tijdens het tonen van de demo.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77777"/>
                </a:solidFill>
                <a:latin typeface="Segoe UI"/>
              </a:defRPr>
            </a:pPr>
            <a:r>
              <a:t>Public | TLP: Clear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B2A4A"/>
                </a:solidFill>
                <a:latin typeface="Segoe UI"/>
              </a:defRPr>
            </a:pPr>
            <a:r>
              <a:t>Tegen wat we kennen,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B2A4A"/>
                </a:solidFill>
                <a:latin typeface="Segoe UI"/>
              </a:defRPr>
            </a:pPr>
            <a:r>
              <a:t>zetten we techniek.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160520"/>
            <a:ext cx="3931920" cy="38100"/>
          </a:xfrm>
          <a:prstGeom prst="rect">
            <a:avLst/>
          </a:prstGeom>
          <a:solidFill>
            <a:srgbClr val="B58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B58600"/>
                </a:solidFill>
                <a:latin typeface="Segoe UI"/>
              </a:defRPr>
            </a:pPr>
            <a:r>
              <a:t>Tegen wat we niet kennen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949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B58600"/>
                </a:solidFill>
                <a:latin typeface="Segoe UI"/>
              </a:defRPr>
            </a:pPr>
            <a:r>
              <a:t>jou.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Segoe UI"/>
              </a:defRPr>
            </a:pPr>
            <a:r>
              <a:t>Public | TLP: Clear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  <a:latin typeface="Segoe UI"/>
              </a:defRPr>
            </a:pPr>
            <a:r>
              <a:t>Ben jij gelekt? Check het nu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33333"/>
                </a:solidFill>
                <a:latin typeface="Segoe UI"/>
              </a:defRPr>
            </a:pPr>
            <a:r>
              <a:t>Pak je telefoon en ga naar: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194560"/>
            <a:ext cx="8229600" cy="1371600"/>
          </a:xfrm>
          <a:prstGeom prst="rect">
            <a:avLst/>
          </a:prstGeom>
          <a:solidFill>
            <a:srgbClr val="FBEDDD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2194560"/>
            <a:ext cx="109728" cy="137160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468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B2A4A"/>
                </a:solidFill>
                <a:latin typeface="Segoe UI"/>
              </a:defRPr>
            </a:pPr>
            <a:r>
              <a:t>politie.nl/checkjehack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4023360"/>
            <a:ext cx="2286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47548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E6E6E"/>
                </a:solidFill>
                <a:latin typeface="Segoe UI"/>
              </a:defRPr>
            </a:pPr>
            <a:r>
              <a:t>QR-CODE</a:t>
            </a:r>
            <a:br/>
            <a:r>
              <a:t>hier invoegen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  <a:latin typeface="Segoe UI"/>
              </a:defRPr>
            </a:pPr>
            <a:r>
              <a:t>Gebruik alleen officiële bronnen. Download nooit gelekte data — strafbaar.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Segoe UI"/>
              </a:defRPr>
            </a:pPr>
            <a:r>
              <a:t>Public | TLP: Clear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Segoe UI"/>
              </a:defRPr>
            </a:pPr>
            <a:r>
              <a:t>Drie stappen die je vandaag zet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05840" cy="100584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41732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Segoe UI"/>
              </a:defRPr>
            </a:pPr>
            <a:r>
              <a:t>Wachtwoordmanager + MFA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9202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Eén unieke voor mail en bank. Authenticator-app, geen SMS.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697480"/>
            <a:ext cx="1005840" cy="100584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62072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74320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Segoe UI"/>
              </a:defRPr>
            </a:pPr>
            <a:r>
              <a:t>Bel terug bij twijfel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324612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Word je gebeld over IT, fraude, je bank? Hang op. Bel het officiële nummer.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023360"/>
            <a:ext cx="1005840" cy="1005840"/>
          </a:xfrm>
          <a:prstGeom prst="rect">
            <a:avLst/>
          </a:prstGeom>
          <a:solidFill>
            <a:srgbClr val="1E8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87952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406908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Segoe UI"/>
              </a:defRPr>
            </a:pPr>
            <a:r>
              <a:t>Pushmeldingen op je bank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457200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Elke afschrijving zie je direct. Eén tap weet je of het klopt.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715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E6E6E"/>
                </a:solidFill>
                <a:latin typeface="Segoe UI"/>
              </a:defRPr>
            </a:pPr>
            <a:r>
              <a:t>Voor extra zekerheid: BKR-check via mijnkredietregistratie.nl  ·  KopieID-app voor scans van je paspoort/rijbewijs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Segoe UI"/>
              </a:defRPr>
            </a:pPr>
            <a:r>
              <a:t>Public | TLP: Clear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Segoe UI"/>
              </a:defRPr>
            </a:pPr>
            <a:r>
              <a:t>En op het werk?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5486400" cy="2286000"/>
          </a:xfrm>
          <a:prstGeom prst="rect">
            <a:avLst/>
          </a:prstGeom>
          <a:solidFill>
            <a:srgbClr val="E4F3E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" cy="2286000"/>
          </a:xfrm>
          <a:prstGeom prst="rect">
            <a:avLst/>
          </a:prstGeom>
          <a:solidFill>
            <a:srgbClr val="1E8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8E52"/>
                </a:solidFill>
                <a:latin typeface="Segoe UI"/>
              </a:defRPr>
            </a:pPr>
            <a:r>
              <a:t>Het goede nieuws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Segoe UI"/>
              </a:defRPr>
            </a:pPr>
            <a:r>
              <a:t>•  Dienstverlening niet verstoord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Segoe UI"/>
              </a:defRPr>
            </a:pPr>
            <a:r>
              <a:t>•  Gegevens medewerkers (eindgebruikers)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Segoe UI"/>
              </a:defRPr>
            </a:pPr>
            <a:r>
              <a:t>    niet geraakt door Odido of Epe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097280"/>
            <a:ext cx="5349240" cy="2286000"/>
          </a:xfrm>
          <a:prstGeom prst="rect">
            <a:avLst/>
          </a:prstGeom>
          <a:solidFill>
            <a:srgbClr val="F6E2E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097280"/>
            <a:ext cx="109728" cy="2286000"/>
          </a:xfrm>
          <a:prstGeom prst="rect">
            <a:avLst/>
          </a:prstGeom>
          <a:solidFill>
            <a:srgbClr val="8B1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1A4A"/>
                </a:solidFill>
                <a:latin typeface="Segoe UI"/>
              </a:defRPr>
            </a:pPr>
            <a:r>
              <a:t>Het minder goede nieuws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Segoe UI"/>
              </a:defRPr>
            </a:pPr>
            <a:r>
              <a:t>•  AIVD/MIVD: aanvallen op overheidsmedewerkers,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Segoe UI"/>
              </a:defRPr>
            </a:pPr>
            <a:r>
              <a:t>    vaak via WhatsApp/Signal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Segoe UI"/>
              </a:defRPr>
            </a:pPr>
            <a:r>
              <a:t>•  Epe laat zien: gemeenten zijn ook doelwit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Segoe UI"/>
              </a:defRPr>
            </a:pPr>
            <a:r>
              <a:t>•  Verrijkte data → aanvallen levensecht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566160"/>
            <a:ext cx="10972800" cy="2606040"/>
          </a:xfrm>
          <a:prstGeom prst="rect">
            <a:avLst/>
          </a:prstGeom>
          <a:solidFill>
            <a:srgbClr val="E9F0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566160"/>
            <a:ext cx="109728" cy="260604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Segoe UI"/>
              </a:defRPr>
            </a:pPr>
            <a:r>
              <a:t>Wat we van jou vragen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2062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•  WhatsApp en Signal: geen kanaal voor werk. Gebruik Teams, Outlook, telefoon.</a:t>
            </a:r>
          </a:p>
          <a:p>
            <a:pPr>
              <a:spcAft>
                <a:spcPts val="80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•  Twijfel je over een telefoontje “van IT”?  →  Hang op, bel zelf terug.</a:t>
            </a:r>
          </a:p>
          <a:p>
            <a:pPr>
              <a:spcAft>
                <a:spcPts val="80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•  Iets verdachts? Meld het bij de servicedesk of het security-team.</a:t>
            </a:r>
          </a:p>
          <a:p>
            <a:pPr>
              <a:spcAft>
                <a:spcPts val="800"/>
              </a:spcAft>
              <a:defRPr sz="1400" b="1">
                <a:solidFill>
                  <a:srgbClr val="333333"/>
                </a:solidFill>
                <a:latin typeface="Segoe UI"/>
              </a:defRPr>
            </a:pPr>
            <a:r>
              <a:t>•  Liever 10 valse meldingen dan 1 gemiste aanval.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Segoe UI"/>
              </a:defRPr>
            </a:pPr>
            <a:r>
              <a:t>Public | TLP: Clear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Segoe UI"/>
              </a:defRPr>
            </a:pPr>
            <a:r>
              <a:t>Voor jou als leidinggevende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5C8A"/>
                </a:solidFill>
                <a:latin typeface="Segoe UI"/>
              </a:defRPr>
            </a:pPr>
            <a:r>
              <a:t>Jij vertaalt dit naar je team — dat maakt het verschil.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109728" cy="77724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00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Segoe UI"/>
              </a:defRPr>
            </a:pPr>
            <a:r>
              <a:t>Bespreek het in je eerstvolgende teamoverleg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11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10 minuten is genoeg. Gebruik de drie stappen en één recent voorbeeld.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651760"/>
            <a:ext cx="109728" cy="77724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606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Segoe UI"/>
              </a:defRPr>
            </a:pPr>
            <a:r>
              <a:t>Deel de A4-handleiding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Die ontvang je na deze sessie per mail — één pagina die je 1-op-1 kunt doorsturen.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657600"/>
            <a:ext cx="109728" cy="77724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611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Segoe UI"/>
              </a:defRPr>
            </a:pPr>
            <a:r>
              <a:t>Maak melden normaal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Liever 10 valse meldingen dan 1 gemiste aanval. Reageer nooit met “had je dat niet moeten zien?”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663440"/>
            <a:ext cx="109728" cy="77724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617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Segoe UI"/>
              </a:defRPr>
            </a:pPr>
            <a:r>
              <a:t>Geef zelf het goede voorbeeld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Bel terug bij twijfel, gebruik geen WhatsApp voor werk. Jouw gedrag is de norm.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5715000"/>
            <a:ext cx="10332720" cy="594360"/>
          </a:xfrm>
          <a:prstGeom prst="rect">
            <a:avLst/>
          </a:prstGeom>
          <a:solidFill>
            <a:srgbClr val="FAF1D6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5715000"/>
            <a:ext cx="109728" cy="594360"/>
          </a:xfrm>
          <a:prstGeom prst="rect">
            <a:avLst/>
          </a:prstGeom>
          <a:solidFill>
            <a:srgbClr val="B58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5797296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2A4A"/>
                </a:solidFill>
                <a:latin typeface="Segoe UI"/>
              </a:defRPr>
            </a:pPr>
            <a:r>
              <a:t>Je ontvangt na deze sessie een korte aftermail met een A4 die je direct in je team kunt delen.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Segoe UI"/>
              </a:defRPr>
            </a:pPr>
            <a:r>
              <a:t>Public | TLP: Clear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  <a:latin typeface="Segoe UI"/>
              </a:defRPr>
            </a:pPr>
            <a:r>
              <a:t>Onthoud deze 3 dingen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80160"/>
            <a:ext cx="1005840" cy="109728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325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Segoe UI"/>
              </a:defRPr>
            </a:pPr>
            <a:r>
              <a:t>Het begint altijd bij jou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828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Geen enkele hack begint met een server kraken. Het begint met een mens die klikt, plakt, belt of goedkeurt.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606039"/>
            <a:ext cx="1005840" cy="109728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34639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65175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Segoe UI"/>
              </a:defRPr>
            </a:pPr>
            <a:r>
              <a:t>Het is geen incident, het is een patroon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3154679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Vijf grote lekken in drie maanden, allemaal dezelfde fouten. Dit gaat door zolang het werkt.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931920"/>
            <a:ext cx="1005840" cy="1097280"/>
          </a:xfrm>
          <a:prstGeom prst="rect">
            <a:avLst/>
          </a:prstGeom>
          <a:solidFill>
            <a:srgbClr val="1E8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977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Segoe UI"/>
              </a:defRPr>
            </a:pPr>
            <a:r>
              <a:t>Jij bent de eerste filter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4480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Wij blokkeren wat we kennen. Jij ziet wat wij niet zien. Daarom hoor jij erbij.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669280"/>
            <a:ext cx="10332720" cy="640080"/>
          </a:xfrm>
          <a:prstGeom prst="rect">
            <a:avLst/>
          </a:prstGeom>
          <a:solidFill>
            <a:srgbClr val="FAF1D6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5669280"/>
            <a:ext cx="109728" cy="640080"/>
          </a:xfrm>
          <a:prstGeom prst="rect">
            <a:avLst/>
          </a:prstGeom>
          <a:solidFill>
            <a:srgbClr val="B58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779008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2A4A"/>
                </a:solidFill>
                <a:latin typeface="Segoe UI"/>
              </a:defRPr>
            </a:pPr>
            <a:r>
              <a:t>“Het is geen incident — het is een patroon. Jij bent de eerste filter.”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Segoe UI"/>
              </a:defRPr>
            </a:pPr>
            <a:r>
              <a:t>Public | TLP: Clear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B2A4A"/>
                </a:solidFill>
                <a:latin typeface="Segoe UI"/>
              </a:defRPr>
            </a:pPr>
            <a:r>
              <a:t>Vragen?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solidFill>
            <a:srgbClr val="FBEDDD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377440"/>
            <a:ext cx="109728" cy="91440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514600"/>
            <a:ext cx="9784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2A4A"/>
                </a:solidFill>
                <a:latin typeface="Segoe UI"/>
              </a:defRPr>
            </a:pPr>
            <a:r>
              <a:t>“Het is geen incident — het is een patroon. Jij bent de eerste filter.”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E5C8A"/>
                </a:solidFill>
                <a:latin typeface="Segoe UI"/>
              </a:defRPr>
            </a:pPr>
            <a:r>
              <a:t>Bedankt voor jullie tijd!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389120"/>
            <a:ext cx="6675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  <a:latin typeface="Segoe UI"/>
              </a:defRPr>
            </a:pPr>
            <a:r>
              <a:t>[Naam spreker] — CISO</a:t>
            </a:r>
            <a:br/>
            <a:r>
              <a:t>[telefoon]  |  [e-mailadres]</a:t>
            </a:r>
            <a:br/>
            <a:br/>
            <a:r>
              <a:t>[Co-presentator]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5760720"/>
            <a:ext cx="5760720" cy="594360"/>
          </a:xfrm>
          <a:prstGeom prst="rect">
            <a:avLst/>
          </a:prstGeom>
          <a:solidFill>
            <a:srgbClr val="E9F0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5760720"/>
            <a:ext cx="109728" cy="59436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5870448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2A4A"/>
                </a:solidFill>
                <a:latin typeface="Segoe UI"/>
              </a:defRPr>
            </a:pPr>
            <a:r>
              <a:t>Meld je aan voor updates via Microsoft Forms → [link]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Segoe UI"/>
              </a:defRPr>
            </a:pPr>
            <a:r>
              <a:t>Public | TLP: Clear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